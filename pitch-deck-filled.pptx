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A97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101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E6ECF5"/>
                </a:solidFill>
                <a:latin typeface="Segoe UI Semibold"/>
              </a:defRPr>
            </a:pPr>
            <a:r>
              <a:rPr lang="en-US" sz="1200" b="0" i="0" u="none" strike="noStrike">
                <a:solidFill>
                  <a:srgbClr val="E6ECF5"/>
                </a:solidFill>
                <a:latin typeface="Segoe UI Semibold"/>
              </a:rPr>
              <a:t>ARR ($k), trailing 12 mo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ARR ($k)</c:v>
                </c:pt>
              </c:strCache>
            </c:strRef>
          </c:tx>
          <c:spPr>
            <a:ln w="38100" cap="flat">
              <a:solidFill>
                <a:srgbClr val="3DD4C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3DD4C8"/>
              </a:solidFill>
              <a:ln w="9525" cap="flat">
                <a:solidFill>
                  <a:srgbClr val="3DD4C8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</c:v>
                </c:pt>
                <c:pt idx="4">
                  <c:v>Nov</c:v>
                </c:pt>
                <c:pt idx="5">
                  <c:v>Dec</c:v>
                </c:pt>
                <c:pt idx="6">
                  <c:v>Jan</c:v>
                </c:pt>
                <c:pt idx="7">
                  <c:v>Feb</c:v>
                </c:pt>
                <c:pt idx="8">
                  <c:v>Mar</c:v>
                </c:pt>
                <c:pt idx="9">
                  <c:v>Apr</c:v>
                </c:pt>
                <c:pt idx="10">
                  <c:v>May</c:v>
                </c:pt>
                <c:pt idx="11">
                  <c:v>Jun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640</c:v>
                </c:pt>
                <c:pt idx="1">
                  <c:v>710</c:v>
                </c:pt>
                <c:pt idx="2">
                  <c:v>790</c:v>
                </c:pt>
                <c:pt idx="3">
                  <c:v>880</c:v>
                </c:pt>
                <c:pt idx="4">
                  <c:v>980</c:v>
                </c:pt>
                <c:pt idx="5">
                  <c:v>1090</c:v>
                </c:pt>
                <c:pt idx="6">
                  <c:v>1210</c:v>
                </c:pt>
                <c:pt idx="7">
                  <c:v>1340</c:v>
                </c:pt>
                <c:pt idx="8">
                  <c:v>1470</c:v>
                </c:pt>
                <c:pt idx="9">
                  <c:v>1600</c:v>
                </c:pt>
                <c:pt idx="10">
                  <c:v>1720</c:v>
                </c:pt>
                <c:pt idx="11">
                  <c:v>1800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91F5-4D83-BE78-A9AEB3A683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04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7A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04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7A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E6ECF5"/>
                </a:solidFill>
                <a:latin typeface="Segoe UI Semibold"/>
              </a:defRPr>
            </a:pPr>
            <a:r>
              <a:rPr lang="en-US" sz="1200" b="0" i="0" u="none" strike="noStrike">
                <a:solidFill>
                  <a:srgbClr val="E6ECF5"/>
                </a:solidFill>
                <a:latin typeface="Segoe UI Semibold"/>
              </a:rPr>
              <a:t>Revenue vs. net burn ($M)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3DD4C8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Y1</c:v>
                </c:pt>
                <c:pt idx="1">
                  <c:v>Y2</c:v>
                </c:pt>
                <c:pt idx="2">
                  <c:v>Y3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1.8</c:v>
                </c:pt>
                <c:pt idx="1">
                  <c:v>5.4</c:v>
                </c:pt>
                <c:pt idx="2">
                  <c:v>14.2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2F4-4B98-9FF8-80C9104A976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Net burn ($M)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Y1</c:v>
                </c:pt>
                <c:pt idx="1">
                  <c:v>Y2</c:v>
                </c:pt>
                <c:pt idx="2">
                  <c:v>Y3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</c:v>
                </c:pt>
                <c:pt idx="1">
                  <c:v>1.4</c:v>
                </c:pt>
                <c:pt idx="2">
                  <c:v>1.1000000000000001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2F4-4B98-9FF8-80C9104A97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04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7A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04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7A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97AD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26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SERIES A · CONFIDENTIAL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94360" y="19202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Taskit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5B8DE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operating system for regulated, multi-vertical operations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 — healthcare, EMS, finance/ERP, and agency workspaces — with built-in compliance, AI, and billing.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5120640"/>
            <a:ext cx="1088136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Raising  </a:t>
            </a:r>
            <a:r>
              <a:rPr lang="en-US" sz="13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$12M Series A</a:t>
            </a:r>
            <a:r>
              <a:rPr lang="en-US" sz="13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  Stage  </a:t>
            </a:r>
            <a:r>
              <a:rPr lang="en-US" sz="13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Post-revenue, scaling</a:t>
            </a:r>
            <a:r>
              <a:rPr lang="en-US" sz="13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  </a:t>
            </a:r>
            <a:r>
              <a:rPr lang="en-US" sz="13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6126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— replace with your actuals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 ·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Regulated teams run on duct-taped tools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474720" cy="1874520"/>
          </a:xfrm>
          <a:prstGeom prst="roundRect">
            <a:avLst>
              <a:gd name="adj" fmla="val 2927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54864" cy="187452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9808" y="192938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Fragmented stack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2295144"/>
            <a:ext cx="3090672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Hospitals, EMS agencies and finance teams stitch together 8–12 point tools. Data is siloed; nothing reconciles in real time.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61104" y="1783080"/>
            <a:ext cx="3474720" cy="1874520"/>
          </a:xfrm>
          <a:prstGeom prst="roundRect">
            <a:avLst>
              <a:gd name="adj" fmla="val 2927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61104" y="1783080"/>
            <a:ext cx="54864" cy="187452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462272" y="192938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Compliance is manual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462272" y="2295144"/>
            <a:ext cx="3090672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HIPAA audit trails, PHI handling and retention are spreadsheet-and-prayer. One miss = six-figure fines and lost contracts.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973568" y="1783080"/>
            <a:ext cx="3474720" cy="1874520"/>
          </a:xfrm>
          <a:prstGeom prst="roundRect">
            <a:avLst>
              <a:gd name="adj" fmla="val 2927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973568" y="1783080"/>
            <a:ext cx="54864" cy="1874520"/>
          </a:xfrm>
          <a:prstGeom prst="rect">
            <a:avLst/>
          </a:prstGeom>
          <a:solidFill>
            <a:srgbClr val="9B7D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174736" y="192938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intelligence layer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174736" y="2295144"/>
            <a:ext cx="3090672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Dispatch, triage, cash-flow and staffing decisions are made blind — without the AI that consumer apps take for granted.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931920"/>
            <a:ext cx="11064240" cy="1783080"/>
          </a:xfrm>
          <a:prstGeom prst="roundRect">
            <a:avLst>
              <a:gd name="adj" fmla="val 3077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77240" y="4069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now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7240" y="443484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AI is finally accurate enough for clinical/financial decision support.   • Regulators now mandate immutable audit logging.   • Buyers are consolidating vendors to cut cost — the window for a unified platform is open.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· 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platform. Every workflow. Compliant by default.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474720" cy="2286000"/>
          </a:xfrm>
          <a:prstGeom prst="roundRect">
            <a:avLst>
              <a:gd name="adj" fmla="val 24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417320" y="2057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Capture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Unified intake across patients, incidents, ledgers and clients — one tenant-isolated data model.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61104" y="1783080"/>
            <a:ext cx="3474720" cy="2286000"/>
          </a:xfrm>
          <a:prstGeom prst="roundRect">
            <a:avLst>
              <a:gd name="adj" fmla="val 24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43984" y="1874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5B8DE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129784" y="2057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Automate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443984" y="26974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Workflows, dispatch, journal entries and billing run automatically with full audit capture.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73568" y="1783080"/>
            <a:ext cx="3474720" cy="2286000"/>
          </a:xfrm>
          <a:prstGeom prst="roundRect">
            <a:avLst>
              <a:gd name="adj" fmla="val 24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56448" y="1874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9B7DF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842248" y="2057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156448" y="26974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surfaces severity, anomalies, cash forecasts and staffing — recommendations, not dashboards.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640" y="4343400"/>
            <a:ext cx="54864" cy="137160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49808" y="4489704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Core outcome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49808" y="4855464"/>
            <a:ext cx="106801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replace 8–12 tools with one system — cutting admin time ~40%, passing audits on demand, and acting on AI-driven recommendations in real time.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·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Four production workspaces, one 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6400800" cy="4160520"/>
          </a:xfrm>
          <a:prstGeom prst="roundRect">
            <a:avLst>
              <a:gd name="adj" fmla="val 1758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6400800" cy="41148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01952"/>
            <a:ext cx="164592" cy="164592"/>
          </a:xfrm>
          <a:prstGeom prst="ellipse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033272" y="1901952"/>
            <a:ext cx="164592" cy="164592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289304" y="1901952"/>
            <a:ext cx="164592" cy="164592"/>
          </a:xfrm>
          <a:prstGeom prst="ellipse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737360" y="1874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app.taskit.io / dashboard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2423160"/>
            <a:ext cx="2926080" cy="1463040"/>
          </a:xfrm>
          <a:prstGeom prst="roundRect">
            <a:avLst>
              <a:gd name="adj" fmla="val 3125"/>
            </a:avLst>
          </a:prstGeom>
          <a:solidFill>
            <a:srgbClr val="0B1220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914400" y="2560320"/>
            <a:ext cx="457200" cy="73152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440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Command center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" y="3081528"/>
            <a:ext cx="265176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14400" y="3319272"/>
            <a:ext cx="210312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14400" y="3557016"/>
            <a:ext cx="155448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931920" y="2423160"/>
            <a:ext cx="2926080" cy="1463040"/>
          </a:xfrm>
          <a:prstGeom prst="roundRect">
            <a:avLst>
              <a:gd name="adj" fmla="val 3125"/>
            </a:avLst>
          </a:prstGeom>
          <a:solidFill>
            <a:srgbClr val="0B1220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069080" y="2560320"/>
            <a:ext cx="457200" cy="73152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06908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dispatch map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069080" y="3081528"/>
            <a:ext cx="265176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069080" y="3319272"/>
            <a:ext cx="210312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069080" y="3557016"/>
            <a:ext cx="155448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77240" y="4114800"/>
            <a:ext cx="2926080" cy="1463040"/>
          </a:xfrm>
          <a:prstGeom prst="roundRect">
            <a:avLst>
              <a:gd name="adj" fmla="val 3125"/>
            </a:avLst>
          </a:prstGeom>
          <a:solidFill>
            <a:srgbClr val="0B1220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14400" y="4251960"/>
            <a:ext cx="457200" cy="73152"/>
          </a:xfrm>
          <a:prstGeom prst="rect">
            <a:avLst/>
          </a:prstGeom>
          <a:solidFill>
            <a:srgbClr val="9B7D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14400" y="43891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Cash &amp; ledger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14400" y="4773168"/>
            <a:ext cx="265176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914400" y="5010912"/>
            <a:ext cx="210312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914400" y="5248656"/>
            <a:ext cx="155448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931920" y="4114800"/>
            <a:ext cx="2926080" cy="1463040"/>
          </a:xfrm>
          <a:prstGeom prst="roundRect">
            <a:avLst>
              <a:gd name="adj" fmla="val 3125"/>
            </a:avLst>
          </a:prstGeom>
          <a:solidFill>
            <a:srgbClr val="0B1220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069080" y="4251960"/>
            <a:ext cx="457200" cy="73152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069080" y="43891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Compliance log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069080" y="4773168"/>
            <a:ext cx="265176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069080" y="5010912"/>
            <a:ext cx="210312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069080" y="5248656"/>
            <a:ext cx="155448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7132320" y="1783080"/>
            <a:ext cx="4480560" cy="914400"/>
          </a:xfrm>
          <a:prstGeom prst="roundRect">
            <a:avLst>
              <a:gd name="adj" fmla="val 60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132320" y="1783080"/>
            <a:ext cx="54864" cy="91440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333488" y="1929384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Healthcare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333488" y="2295144"/>
            <a:ext cx="409651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Patients, beds, supplies, shifts, compliance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132320" y="2843784"/>
            <a:ext cx="4480560" cy="914400"/>
          </a:xfrm>
          <a:prstGeom prst="roundRect">
            <a:avLst>
              <a:gd name="adj" fmla="val 60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7132320" y="2843784"/>
            <a:ext cx="54864" cy="91440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333488" y="299008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EMS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7333488" y="3355848"/>
            <a:ext cx="409651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dispatch, units, PHI-encrypted patient care records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132320" y="3904488"/>
            <a:ext cx="4480560" cy="914400"/>
          </a:xfrm>
          <a:prstGeom prst="roundRect">
            <a:avLst>
              <a:gd name="adj" fmla="val 60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7132320" y="3904488"/>
            <a:ext cx="54864" cy="914400"/>
          </a:xfrm>
          <a:prstGeom prst="rect">
            <a:avLst/>
          </a:prstGeom>
          <a:solidFill>
            <a:srgbClr val="9B7D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7333488" y="405079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Finance / ERP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7333488" y="4416552"/>
            <a:ext cx="409651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Journals, treasury, payroll, CFO AI briefs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132320" y="4965192"/>
            <a:ext cx="4480560" cy="914400"/>
          </a:xfrm>
          <a:prstGeom prst="roundRect">
            <a:avLst>
              <a:gd name="adj" fmla="val 60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7132320" y="4965192"/>
            <a:ext cx="54864" cy="91440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333488" y="5111496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Agency</a:t>
            </a:r>
            <a:endParaRPr lang="en-US" sz="1350" dirty="0"/>
          </a:p>
        </p:txBody>
      </p:sp>
      <p:sp>
        <p:nvSpPr>
          <p:cNvPr id="51" name="Text 49"/>
          <p:cNvSpPr/>
          <p:nvPr/>
        </p:nvSpPr>
        <p:spPr>
          <a:xfrm>
            <a:off x="7333488" y="5477256"/>
            <a:ext cx="409651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Clients, projects, deliverables, briefs, billing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· 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$48B vertical-SaaS opportunity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77240" y="1737360"/>
            <a:ext cx="4480560" cy="4480560"/>
          </a:xfrm>
          <a:prstGeom prst="ellipse">
            <a:avLst/>
          </a:prstGeom>
          <a:solidFill>
            <a:srgbClr val="111B2E"/>
          </a:solidFill>
          <a:ln w="3175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508760" y="2468880"/>
            <a:ext cx="3017520" cy="3017520"/>
          </a:xfrm>
          <a:prstGeom prst="ellipse">
            <a:avLst/>
          </a:prstGeom>
          <a:solidFill>
            <a:srgbClr val="111B2E"/>
          </a:solidFill>
          <a:ln w="31750">
            <a:solidFill>
              <a:srgbClr val="5B8D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194560" y="3154680"/>
            <a:ext cx="1645920" cy="1645920"/>
          </a:xfrm>
          <a:prstGeom prst="ellipse">
            <a:avLst/>
          </a:prstGeom>
          <a:solidFill>
            <a:srgbClr val="111B2E"/>
          </a:solidFill>
          <a:ln w="31750">
            <a:solidFill>
              <a:srgbClr val="3D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011680" y="1874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7A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TAM  $48B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11680" y="27889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8DE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  $6.2B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011680" y="3611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  $310M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852160" y="1783080"/>
            <a:ext cx="5760720" cy="1143000"/>
          </a:xfrm>
          <a:prstGeom prst="roundRect">
            <a:avLst>
              <a:gd name="adj" fmla="val 48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852160" y="1783080"/>
            <a:ext cx="54864" cy="114300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53328" y="1929384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Target segment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053328" y="2295144"/>
            <a:ext cx="5376672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Mid-market regulated operators: 50–500 seat hospitals, EMS agencies, multi-entity finance teams, and digital agencies.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852160" y="3035808"/>
            <a:ext cx="5760720" cy="1143000"/>
          </a:xfrm>
          <a:prstGeom prst="roundRect">
            <a:avLst>
              <a:gd name="adj" fmla="val 48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852160" y="3035808"/>
            <a:ext cx="54864" cy="114300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053328" y="3182112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Bottoms-up sizing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053328" y="3547872"/>
            <a:ext cx="5376672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~38,000 reachable orgs in NA + EU × ~$16k blended ACV = $6.2B serviceable today.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852160" y="4288536"/>
            <a:ext cx="5760720" cy="1143000"/>
          </a:xfrm>
          <a:prstGeom prst="roundRect">
            <a:avLst>
              <a:gd name="adj" fmla="val 48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852160" y="4288536"/>
            <a:ext cx="54864" cy="1143000"/>
          </a:xfrm>
          <a:prstGeom prst="rect">
            <a:avLst/>
          </a:prstGeom>
          <a:solidFill>
            <a:srgbClr val="9B7D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053328" y="44348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Tailwinds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053328" y="4800600"/>
            <a:ext cx="5376672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Vertical SaaS growing 19% CAGR; compliance automation and applied AI are the fastest-growing line items.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60350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— replace with your actuals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 · 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Per-seat SaaS with isolation upsell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54864" cy="123444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94767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$16.2k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25328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Blended ACV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37560" y="178308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37560" y="1783080"/>
            <a:ext cx="54864" cy="123444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20440" y="194767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82%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20440" y="25328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Gross margin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178308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26480" y="1783080"/>
            <a:ext cx="54864" cy="1234440"/>
          </a:xfrm>
          <a:prstGeom prst="rect">
            <a:avLst/>
          </a:prstGeom>
          <a:solidFill>
            <a:srgbClr val="9B7D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09360" y="194767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128%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309360" y="25328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revenue retention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15400" y="1783080"/>
            <a:ext cx="269748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915400" y="1783080"/>
            <a:ext cx="54864" cy="123444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098280" y="194767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Monthly / annual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098280" y="25328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 (Stripe + Dodo)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32461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Unit economics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361188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48640" y="3611880"/>
            <a:ext cx="54864" cy="123444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31520" y="377647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$9.6k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31520" y="43616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337560" y="361188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337560" y="3611880"/>
            <a:ext cx="54864" cy="123444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520440" y="377647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$61k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520440" y="43616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LTV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26480" y="361188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126480" y="3611880"/>
            <a:ext cx="54864" cy="1234440"/>
          </a:xfrm>
          <a:prstGeom prst="rect">
            <a:avLst/>
          </a:prstGeom>
          <a:solidFill>
            <a:srgbClr val="9B7D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309360" y="377647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6.4 : 1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309360" y="43616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LTV : CAC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915400" y="3611880"/>
            <a:ext cx="269748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8915400" y="3611880"/>
            <a:ext cx="54864" cy="123444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098280" y="377647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 mo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098280" y="43616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CAC payback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50292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48640" y="5029200"/>
            <a:ext cx="54864" cy="91440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49808" y="5175504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Revenue streams</a:t>
            </a:r>
            <a:endParaRPr lang="en-US" sz="1350" dirty="0"/>
          </a:p>
        </p:txBody>
      </p:sp>
      <p:sp>
        <p:nvSpPr>
          <p:cNvPr id="42" name="Text 40"/>
          <p:cNvSpPr/>
          <p:nvPr/>
        </p:nvSpPr>
        <p:spPr>
          <a:xfrm>
            <a:off x="749808" y="5541264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seats · workspace add-ons (Healthcare/EMS/Finance/Agency) · dedicated-isolation tier · usage-based AI credits · integration fees.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48640" y="60807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— replace with your actuals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 · TRACTION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Compounding momentum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4864" cy="123444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90195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$1.8M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248716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37560" y="173736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37560" y="1737360"/>
            <a:ext cx="54864" cy="123444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20440" y="190195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142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20440" y="248716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Paying customers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173736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26480" y="1737360"/>
            <a:ext cx="54864" cy="1234440"/>
          </a:xfrm>
          <a:prstGeom prst="rect">
            <a:avLst/>
          </a:prstGeom>
          <a:solidFill>
            <a:srgbClr val="9B7D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09360" y="190195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11% MoM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309360" y="248716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growth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15400" y="1737360"/>
            <a:ext cx="269748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915400" y="1737360"/>
            <a:ext cx="54864" cy="123444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098280" y="190195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128%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098280" y="248716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retention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154680"/>
            <a:ext cx="7040880" cy="2788920"/>
          </a:xfrm>
          <a:prstGeom prst="roundRect">
            <a:avLst>
              <a:gd name="adj" fmla="val 1967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23" name="Chart 0"/>
          <p:cNvGraphicFramePr/>
          <p:nvPr/>
        </p:nvGraphicFramePr>
        <p:xfrm>
          <a:off x="640080" y="3246120"/>
          <a:ext cx="685800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4" name="Shape 21"/>
          <p:cNvSpPr/>
          <p:nvPr/>
        </p:nvSpPr>
        <p:spPr>
          <a:xfrm>
            <a:off x="7772400" y="3154680"/>
            <a:ext cx="3840480" cy="2788920"/>
          </a:xfrm>
          <a:prstGeom prst="roundRect">
            <a:avLst>
              <a:gd name="adj" fmla="val 1967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7772400" y="3154680"/>
            <a:ext cx="54864" cy="278892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7973568" y="3300984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Key logos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7973568" y="3666744"/>
            <a:ext cx="3456432" cy="2130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[Add 4–6 customer logos]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Design-partner hospitals, EMS agencies and finance teams now in production. Two reference accounts available to investors.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48640" y="60807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— replace with your actuals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 · COMPETITION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 tools vs. one compliant platform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15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329184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Multi-vertical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Built-in HIPAA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Native AI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Unified billing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DD4C8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Taskit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DD4C8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✔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DD4C8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✔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DD4C8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✔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DD4C8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✔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Epic / Cerner (EHR)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8A97A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DD4C8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✔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F5A62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Partial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8A97A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ServiceNow (ITSM)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F5A62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Partial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8A97A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F5A62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Partial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8A97A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NetSuite (ERP)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8A97A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8A97A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8A97A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DD4C8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✔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48640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48640" y="5486400"/>
            <a:ext cx="54864" cy="86868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6"/>
          <p:cNvSpPr/>
          <p:nvPr/>
        </p:nvSpPr>
        <p:spPr>
          <a:xfrm>
            <a:off x="749808" y="5632704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Our differentiator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49808" y="5998464"/>
            <a:ext cx="10680192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Incumbents are single-vertical or single-function. Taskit is the only platform that unifies clinical, operational and financial workflows with compliance and AI native to the core — at mid-market price points.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 · TECHNOLOGY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Multi-tenant, compliant, AI-native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7040880" cy="731520"/>
          </a:xfrm>
          <a:prstGeom prst="roundRect">
            <a:avLst>
              <a:gd name="adj" fmla="val 625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19656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Clients &amp; SDKs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0" y="1819656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Next.js 16 App Router · React · typed REST API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69080" y="2514600"/>
            <a:ext cx="0" cy="109728"/>
          </a:xfrm>
          <a:prstGeom prst="line">
            <a:avLst/>
          </a:prstGeom>
          <a:noFill/>
          <a:ln w="19050">
            <a:solidFill>
              <a:srgbClr val="3D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48640" y="2624328"/>
            <a:ext cx="7040880" cy="731520"/>
          </a:xfrm>
          <a:prstGeom prst="roundRect">
            <a:avLst>
              <a:gd name="adj" fmla="val 625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49808" y="266090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API &amp; edge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0" y="2660904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 runtime · auth, rate-limit, idempotency · canonical handler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069080" y="3355848"/>
            <a:ext cx="0" cy="109728"/>
          </a:xfrm>
          <a:prstGeom prst="line">
            <a:avLst/>
          </a:prstGeom>
          <a:noFill/>
          <a:ln w="19050">
            <a:solidFill>
              <a:srgbClr val="3D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48640" y="3465576"/>
            <a:ext cx="7040880" cy="731520"/>
          </a:xfrm>
          <a:prstGeom prst="roundRect">
            <a:avLst>
              <a:gd name="adj" fmla="val 625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49808" y="3502152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Core services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00400" y="3502152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Company-scoped domain modules: EMS · Healthcare · Finance · Agency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069080" y="4197096"/>
            <a:ext cx="0" cy="109728"/>
          </a:xfrm>
          <a:prstGeom prst="line">
            <a:avLst/>
          </a:prstGeom>
          <a:noFill/>
          <a:ln w="19050">
            <a:solidFill>
              <a:srgbClr val="3D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48640" y="4306824"/>
            <a:ext cx="7040880" cy="731520"/>
          </a:xfrm>
          <a:prstGeom prst="roundRect">
            <a:avLst>
              <a:gd name="adj" fmla="val 625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49808" y="4343400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 &amp; AI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00400" y="4343400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Prisma · Postgres (Supabase) · row-level security · PHI encryption · AI agents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069080" y="5038344"/>
            <a:ext cx="0" cy="109728"/>
          </a:xfrm>
          <a:prstGeom prst="line">
            <a:avLst/>
          </a:prstGeom>
          <a:noFill/>
          <a:ln w="19050">
            <a:solidFill>
              <a:srgbClr val="3D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48640" y="5148072"/>
            <a:ext cx="7040880" cy="731520"/>
          </a:xfrm>
          <a:prstGeom prst="roundRect">
            <a:avLst>
              <a:gd name="adj" fmla="val 625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49808" y="5184648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Infra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00400" y="5184648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Vercel · PgBouncer pooling · immutable audit log + checksum chain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772400" y="1783080"/>
            <a:ext cx="3840480" cy="1920240"/>
          </a:xfrm>
          <a:prstGeom prst="roundRect">
            <a:avLst>
              <a:gd name="adj" fmla="val 2857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772400" y="1783080"/>
            <a:ext cx="54864" cy="192024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973568" y="1929384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Moat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973568" y="2295144"/>
            <a:ext cx="3456432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Tenant-isolated data model + immutable, checksummed HIPAA audit trail + per-vertical AI tuned on operational data. High switching cost once it's the system of record.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0" y="384048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772400" y="3840480"/>
            <a:ext cx="54864" cy="214884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973568" y="3986784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Integrations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973568" y="4352544"/>
            <a:ext cx="3456432" cy="1490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 (Tyler, Hexagon) · Epic EHR · Stripe &amp; Dodo billing · exchange-rate &amp; treasury feeds. Connector framework for new verticals.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 · GO-TO-MARKET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Land in one workspace, expand across the org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417320" y="20116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Acquire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60604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Vertical-specific outbound + design partners. Compliance &amp; AI as the wedge into one team.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61104" y="178308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43984" y="18745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5B8DE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129784" y="20116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Activate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43984" y="260604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Self-serve onboarding per workspace; first audit-ready report in &lt;14 days proves value.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73568" y="178308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56448" y="18745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9B7DF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842248" y="20116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Expand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156448" y="260604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Cross-sell adjacent workspaces + isolation tier. NRR 128% drives efficient growth.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206240"/>
            <a:ext cx="35204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54864" cy="123444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1520" y="4370832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$9.6k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31520" y="495604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CAC (blended)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61104" y="4206240"/>
            <a:ext cx="35204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261104" y="4206240"/>
            <a:ext cx="54864" cy="123444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443984" y="4370832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PLG + inside sales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4443984" y="495604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73568" y="4206240"/>
            <a:ext cx="365760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973568" y="4206240"/>
            <a:ext cx="54864" cy="1234440"/>
          </a:xfrm>
          <a:prstGeom prst="rect">
            <a:avLst/>
          </a:prstGeom>
          <a:solidFill>
            <a:srgbClr val="9B7D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156448" y="4370832"/>
            <a:ext cx="3337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3.1x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8156448" y="4956048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 coverage (12 mo)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60350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— replace with your actuals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·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dirty="0">
                <a:solidFill>
                  <a:srgbClr val="8A97AD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The Idea Was Born from a Problem</a:t>
            </a:r>
            <a:endParaRPr lang="en-US" sz="3000" dirty="0">
              <a:solidFill>
                <a:srgbClr val="8A97AD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1" y="178308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366039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[Founder &amp; CEO]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392408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D4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&amp; GTM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4141856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Ex-vertical-SaaS operator; scaled a regulated product to 8 figures ARR.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61104" y="178308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43984" y="363717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5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[Market Researcher-Qatar]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43984" y="3887949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8DE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Opportunity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89704" y="4121611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lnSpc>
                <a:spcPct val="105000"/>
              </a:lnSpc>
            </a:pPr>
            <a:r>
              <a:rPr lang="en-US" sz="1100" dirty="0">
                <a:solidFill>
                  <a:srgbClr val="8A97AD"/>
                </a:solidFill>
              </a:rPr>
              <a:t>Understand the Qatar market for your platform and turn that understanding into real</a:t>
            </a:r>
          </a:p>
        </p:txBody>
      </p:sp>
      <p:sp>
        <p:nvSpPr>
          <p:cNvPr id="16" name="Shape 14"/>
          <p:cNvSpPr/>
          <p:nvPr/>
        </p:nvSpPr>
        <p:spPr>
          <a:xfrm>
            <a:off x="7973568" y="178308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156448" y="365663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[Sales Manager]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156448" y="3907411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B7D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02168" y="4131342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Sold into hospitals, EMS and finance; closed the first design partners.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8463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48640" y="4846320"/>
            <a:ext cx="54864" cy="114300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49808" y="4992624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Advisors &amp; key hires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49808" y="5358384"/>
            <a:ext cx="10680192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[Habib BenSalah] — clinical compliance, vertical-SaaS scaling, applied AI. Next hires: 2 AEs, 1 compliance lead.</a:t>
            </a:r>
            <a:endParaRPr lang="en-US" sz="11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EF1CE001-8B50-F128-795F-5E7506CFB1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350"/>
          <a:stretch>
            <a:fillRect/>
          </a:stretch>
        </p:blipFill>
        <p:spPr>
          <a:xfrm>
            <a:off x="1794510" y="2233330"/>
            <a:ext cx="1064161" cy="1290514"/>
          </a:xfrm>
          <a:prstGeom prst="rect">
            <a:avLst/>
          </a:prstGeom>
          <a:effectLst>
            <a:glow rad="127000">
              <a:schemeClr val="accent1">
                <a:alpha val="40000"/>
              </a:schemeClr>
            </a:glow>
            <a:softEdge rad="38100"/>
          </a:effectLst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5206BB0D-086E-B76E-7587-93686EBD121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496187" y="2279853"/>
            <a:ext cx="1005887" cy="1253719"/>
          </a:xfrm>
          <a:prstGeom prst="rect">
            <a:avLst/>
          </a:prstGeom>
          <a:effectLst>
            <a:glow rad="127000">
              <a:schemeClr val="accent1">
                <a:alpha val="40000"/>
              </a:schemeClr>
            </a:glow>
            <a:softEdge rad="38100"/>
          </a:effectLst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65D1A316-6035-82F9-C143-AC23FEF0C8B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200896" y="2233330"/>
            <a:ext cx="977375" cy="1290514"/>
          </a:xfrm>
          <a:prstGeom prst="rect">
            <a:avLst/>
          </a:prstGeom>
          <a:effectLst>
            <a:glow rad="127000">
              <a:schemeClr val="accent1">
                <a:alpha val="40000"/>
              </a:schemeClr>
            </a:glow>
            <a:softEdge rad="38100"/>
          </a:effec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62B38AE1-48AA-0668-62D1-1CAC5ABAF155}"/>
              </a:ext>
            </a:extLst>
          </p:cNvPr>
          <p:cNvSpPr txBox="1"/>
          <p:nvPr/>
        </p:nvSpPr>
        <p:spPr>
          <a:xfrm>
            <a:off x="1488331" y="1802536"/>
            <a:ext cx="1741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Aharoni" panose="020F0502020204030204" pitchFamily="2" charset="-79"/>
                <a:ea typeface="ADLaM Display" panose="020F0502020204030204" pitchFamily="2" charset="0"/>
                <a:cs typeface="Aharoni" panose="020F0502020204030204" pitchFamily="2" charset="-79"/>
              </a:rPr>
              <a:t>Hamed Dhieb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D0A5EA6-BDB5-B11C-55BA-47BC5BFB6EE3}"/>
              </a:ext>
            </a:extLst>
          </p:cNvPr>
          <p:cNvSpPr txBox="1"/>
          <p:nvPr/>
        </p:nvSpPr>
        <p:spPr>
          <a:xfrm>
            <a:off x="5113513" y="1828473"/>
            <a:ext cx="20460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Aharoni" panose="020F0502020204030204" pitchFamily="2" charset="-79"/>
                <a:ea typeface="ADLaM Display" panose="020F0502020204030204" pitchFamily="2" charset="0"/>
                <a:cs typeface="Aharoni" panose="020F0502020204030204" pitchFamily="2" charset="-79"/>
              </a:rPr>
              <a:t>Monem Slimen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9419706-7C1C-8154-89F2-0F89E76DB8E2}"/>
              </a:ext>
            </a:extLst>
          </p:cNvPr>
          <p:cNvSpPr txBox="1"/>
          <p:nvPr/>
        </p:nvSpPr>
        <p:spPr>
          <a:xfrm>
            <a:off x="8694757" y="1848227"/>
            <a:ext cx="2151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Aharoni" panose="020F0502020204030204" pitchFamily="2" charset="-79"/>
                <a:ea typeface="ADLaM Display" panose="020F0502020204030204" pitchFamily="2" charset="0"/>
                <a:cs typeface="Aharoni" panose="020F0502020204030204" pitchFamily="2" charset="-79"/>
              </a:rPr>
              <a:t>Yassin Kharroubi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 · FINANCIALS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 to $14M ARR in 3 years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15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486400" cy="3200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Y1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Y2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Y3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Revenue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$1.8M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$5.4M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$14.2M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Gross margin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82%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84%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86%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Customers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142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380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820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Net burn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$0.9M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$1.4M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$1.1M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0" y="1783080"/>
            <a:ext cx="5212080" cy="3291840"/>
          </a:xfrm>
          <a:prstGeom prst="roundRect">
            <a:avLst>
              <a:gd name="adj" fmla="val 1667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8" name="Chart 0"/>
          <p:cNvGraphicFramePr/>
          <p:nvPr/>
        </p:nvGraphicFramePr>
        <p:xfrm>
          <a:off x="6492240" y="1874520"/>
          <a:ext cx="50292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4617720"/>
            <a:ext cx="5486400" cy="1325880"/>
          </a:xfrm>
          <a:prstGeom prst="roundRect">
            <a:avLst>
              <a:gd name="adj" fmla="val 4138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548640" y="4617720"/>
            <a:ext cx="54864" cy="132588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749808" y="4764024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Key assumptions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749808" y="5129784"/>
            <a:ext cx="510235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11% MoM new ARR · 128% NRR · CAC payback 11 mo · margin expands with scale &amp; AI automation.</a:t>
            </a:r>
            <a:endParaRPr lang="en-US" sz="1100" dirty="0"/>
          </a:p>
        </p:txBody>
      </p:sp>
      <p:sp>
        <p:nvSpPr>
          <p:cNvPr id="6" name="Shape 9"/>
          <p:cNvSpPr/>
          <p:nvPr/>
        </p:nvSpPr>
        <p:spPr>
          <a:xfrm>
            <a:off x="6400800" y="5257800"/>
            <a:ext cx="5212080" cy="685800"/>
          </a:xfrm>
          <a:prstGeom prst="roundRect">
            <a:avLst>
              <a:gd name="adj" fmla="val 80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6400800" y="5257800"/>
            <a:ext cx="54864" cy="685800"/>
          </a:xfrm>
          <a:prstGeom prst="rect">
            <a:avLst/>
          </a:prstGeom>
          <a:solidFill>
            <a:srgbClr val="9B7D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6601968" y="5404104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Path to profitability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6601968" y="5769864"/>
            <a:ext cx="4828032" cy="27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Cash-flow positive in Y4 at current efficiency; this round funds 30+ months runway.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— replace with your actuals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 · 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Raising $12M Series 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5212080" cy="1828800"/>
          </a:xfrm>
          <a:prstGeom prst="roundRect">
            <a:avLst>
              <a:gd name="adj" fmla="val 4000"/>
            </a:avLst>
          </a:prstGeom>
          <a:solidFill>
            <a:srgbClr val="111B2E"/>
          </a:solidFill>
          <a:ln w="31750">
            <a:solidFill>
              <a:srgbClr val="3D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202996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RAISE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4663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$12M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822960" y="32461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Priced equity · 30+ months runway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0" y="1828800"/>
            <a:ext cx="5669280" cy="1828800"/>
          </a:xfrm>
          <a:prstGeom prst="roundRect">
            <a:avLst>
              <a:gd name="adj" fmla="val 30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943600" y="1828800"/>
            <a:ext cx="54864" cy="182880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144768" y="1975104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Milestones this round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144768" y="2340864"/>
            <a:ext cx="5285232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$14M ARR &amp; 820 customers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Two new regulated verticals live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SOC 2 Type II + expanded HIPAA scope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Series B-ready metrics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3977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of funds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343400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8640" y="4343400"/>
            <a:ext cx="54864" cy="146304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31520" y="448056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45%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31520" y="51206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/ R&amp;D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61104" y="4343400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261104" y="4343400"/>
            <a:ext cx="54864" cy="146304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443984" y="448056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35%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4443984" y="51206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Go-to-market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973568" y="4343400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973568" y="4343400"/>
            <a:ext cx="54864" cy="1463040"/>
          </a:xfrm>
          <a:prstGeom prst="rect">
            <a:avLst/>
          </a:prstGeom>
          <a:solidFill>
            <a:srgbClr val="9B7D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156448" y="448056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20%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8156448" y="51206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 / G&amp;A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60350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— replace with your actuals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13 · ACQUISITION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Asking price — whole business, technical buyer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5204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4864" cy="123444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901952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$60k–$140k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24871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Code-asset floor (replacement cost)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61104" y="1737360"/>
            <a:ext cx="35204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61104" y="1737360"/>
            <a:ext cx="54864" cy="123444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443984" y="1901952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2.5–4× ARR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43984" y="24871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(growing, pre-profit)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973568" y="1737360"/>
            <a:ext cx="365760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973568" y="1737360"/>
            <a:ext cx="54864" cy="1234440"/>
          </a:xfrm>
          <a:prstGeom prst="rect">
            <a:avLst/>
          </a:prstGeom>
          <a:solidFill>
            <a:srgbClr val="9B7D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156448" y="1901952"/>
            <a:ext cx="3337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3–5× SDE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156448" y="2487168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(if profitable)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00400"/>
          <a:ext cx="6400800" cy="2523744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MRR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ARR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Asking (3.5× ARR, floored)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$1k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$12k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8A97A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~$70k (floor governs)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$3k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$36k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~$125k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$5k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$60k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DD4C8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~$210k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$8k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$96k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~$335k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$15k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$180k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~$630k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7132320" y="3200400"/>
            <a:ext cx="4480560" cy="1325880"/>
          </a:xfrm>
          <a:prstGeom prst="roundRect">
            <a:avLst>
              <a:gd name="adj" fmla="val 4138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7132320" y="3200400"/>
            <a:ext cx="54864" cy="132588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7333488" y="3346704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Recommended strategy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7333488" y="3712464"/>
            <a:ext cx="409651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 25–30% above your target to leave negotiating room. Anchor on the moat: HIPAA-grade compliance, multi-vertical optionality, and native AI.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132320" y="4663440"/>
            <a:ext cx="4480560" cy="1051560"/>
          </a:xfrm>
          <a:prstGeom prst="roundRect">
            <a:avLst>
              <a:gd name="adj" fmla="val 5217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7132320" y="4663440"/>
            <a:ext cx="54864" cy="105156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7333488" y="4809744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finalize the number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7333488" y="5175504"/>
            <a:ext cx="4096512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Plug in your real MRR, paying customers and monthly profit — the grid resolves to one figure.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48640" y="59893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Final price depends on your actual MRR/ARR &amp; profitability — grid is a read-off tool, not a quote.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LET'S BUILD THE OS FOR REGULATED OPS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94360" y="25603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Taskit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34747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[Founder name] · Founder &amp; CEO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28800" y="4297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rgbClr val="8A97A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EMAIL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828800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[you@taskit.io]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54880" y="4297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rgbClr val="8A97A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PHONE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54880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[+21651089100]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680960" y="4297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rgbClr val="8A97A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WEBSITE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680960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[taskit.io]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1391</Words>
  <Application>Microsoft Office PowerPoint</Application>
  <PresentationFormat>Custom</PresentationFormat>
  <Paragraphs>285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Aharoni</vt:lpstr>
      <vt:lpstr>Arial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Hamed Dhieb</cp:lastModifiedBy>
  <cp:revision>3</cp:revision>
  <dcterms:created xsi:type="dcterms:W3CDTF">2026-06-02T11:35:26Z</dcterms:created>
  <dcterms:modified xsi:type="dcterms:W3CDTF">2026-06-02T13:41:40Z</dcterms:modified>
</cp:coreProperties>
</file>