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DD4C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PITCH DECK · CONFIDENTIAL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2148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name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[TBD]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One-line description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5212080"/>
            <a:ext cx="1088136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Raise: </a:t>
            </a:r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pPr indent="0" marL="0">
              <a:buNone/>
            </a:pPr>
            <a:r>
              <a:rPr lang="en-US" sz="12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Stage: </a:t>
            </a:r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pPr indent="0" marL="0">
              <a:buNone/>
            </a:pPr>
            <a:r>
              <a:rPr lang="en-US" sz="12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Date: </a:t>
            </a:r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pain we remove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54864" cy="1828800"/>
          </a:xfrm>
          <a:prstGeom prst="rect">
            <a:avLst/>
          </a:prstGeom>
          <a:solidFill>
            <a:srgbClr val="3DD4C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9293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Pain point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2402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[TBD]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61104" y="178308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61104" y="1783080"/>
            <a:ext cx="54864" cy="1828800"/>
          </a:xfrm>
          <a:prstGeom prst="rect">
            <a:avLst/>
          </a:prstGeom>
          <a:solidFill>
            <a:srgbClr val="3DD4C8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19293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feels 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62272" y="22402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[TBD]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73568" y="178308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73568" y="1783080"/>
            <a:ext cx="54864" cy="1828800"/>
          </a:xfrm>
          <a:prstGeom prst="rect">
            <a:avLst/>
          </a:prstGeom>
          <a:solidFill>
            <a:srgbClr val="3DD4C8"/>
          </a:solidFill>
          <a:ln/>
        </p:spPr>
      </p:sp>
      <p:sp>
        <p:nvSpPr>
          <p:cNvPr id="16" name="Text 14"/>
          <p:cNvSpPr/>
          <p:nvPr/>
        </p:nvSpPr>
        <p:spPr>
          <a:xfrm>
            <a:off x="8174736" y="19293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Cost of status quo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74736" y="22402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[TBD]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now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64240" cy="1554480"/>
          </a:xfrm>
          <a:prstGeom prst="roundRect">
            <a:avLst>
              <a:gd name="adj" fmla="val 3529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407408"/>
            <a:ext cx="10735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 SHIFT / TRIGGER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" y="4681728"/>
            <a:ext cx="10735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· 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54864" cy="1920240"/>
          </a:xfrm>
          <a:prstGeom prst="rect">
            <a:avLst/>
          </a:prstGeom>
          <a:solidFill>
            <a:srgbClr val="3DD4C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9293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1 — Capture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2402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[TBD]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61104" y="178308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61104" y="1783080"/>
            <a:ext cx="54864" cy="1920240"/>
          </a:xfrm>
          <a:prstGeom prst="rect">
            <a:avLst/>
          </a:prstGeom>
          <a:solidFill>
            <a:srgbClr val="3DD4C8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19293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2 — Process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62272" y="22402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[TBD]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73568" y="178308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73568" y="1783080"/>
            <a:ext cx="54864" cy="1920240"/>
          </a:xfrm>
          <a:prstGeom prst="rect">
            <a:avLst/>
          </a:prstGeom>
          <a:solidFill>
            <a:srgbClr val="3DD4C8"/>
          </a:solidFill>
          <a:ln/>
        </p:spPr>
      </p:sp>
      <p:sp>
        <p:nvSpPr>
          <p:cNvPr id="16" name="Text 14"/>
          <p:cNvSpPr/>
          <p:nvPr/>
        </p:nvSpPr>
        <p:spPr>
          <a:xfrm>
            <a:off x="8174736" y="19293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3 — Deliver value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74736" y="22402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[TBD]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133088"/>
            <a:ext cx="10735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CORE OUTCOME FOR THE CUSTOMER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" y="4407408"/>
            <a:ext cx="10735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·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 &amp;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6766560" cy="41148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901952"/>
            <a:ext cx="164592" cy="164592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9" name="Shape 7"/>
          <p:cNvSpPr/>
          <p:nvPr/>
        </p:nvSpPr>
        <p:spPr>
          <a:xfrm>
            <a:off x="1033272" y="1901952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Shape 8"/>
          <p:cNvSpPr/>
          <p:nvPr/>
        </p:nvSpPr>
        <p:spPr>
          <a:xfrm>
            <a:off x="1289304" y="1901952"/>
            <a:ext cx="164592" cy="164592"/>
          </a:xfrm>
          <a:prstGeom prst="ellipse">
            <a:avLst/>
          </a:prstGeom>
          <a:solidFill>
            <a:srgbClr val="3DD4C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576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 screenshot / demo — [TBD]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0" y="1783080"/>
            <a:ext cx="4114800" cy="932688"/>
          </a:xfrm>
          <a:prstGeom prst="roundRect">
            <a:avLst>
              <a:gd name="adj" fmla="val 5882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1783080"/>
            <a:ext cx="54864" cy="932688"/>
          </a:xfrm>
          <a:prstGeom prst="rect">
            <a:avLst/>
          </a:prstGeom>
          <a:solidFill>
            <a:srgbClr val="3DD4C8"/>
          </a:solidFill>
          <a:ln/>
        </p:spPr>
      </p:sp>
      <p:sp>
        <p:nvSpPr>
          <p:cNvPr id="14" name="Text 12"/>
          <p:cNvSpPr/>
          <p:nvPr/>
        </p:nvSpPr>
        <p:spPr>
          <a:xfrm>
            <a:off x="7699248" y="19293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feature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99248" y="22402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[TBD]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2862072"/>
            <a:ext cx="4114800" cy="932688"/>
          </a:xfrm>
          <a:prstGeom prst="roundRect">
            <a:avLst>
              <a:gd name="adj" fmla="val 5882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2862072"/>
            <a:ext cx="54864" cy="932688"/>
          </a:xfrm>
          <a:prstGeom prst="rect">
            <a:avLst/>
          </a:prstGeom>
          <a:solidFill>
            <a:srgbClr val="3DD4C8"/>
          </a:solidFill>
          <a:ln/>
        </p:spPr>
      </p:sp>
      <p:sp>
        <p:nvSpPr>
          <p:cNvPr id="18" name="Text 16"/>
          <p:cNvSpPr/>
          <p:nvPr/>
        </p:nvSpPr>
        <p:spPr>
          <a:xfrm>
            <a:off x="7699248" y="30083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feature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99248" y="33192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[TBD]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0" y="3941064"/>
            <a:ext cx="4114800" cy="932688"/>
          </a:xfrm>
          <a:prstGeom prst="roundRect">
            <a:avLst>
              <a:gd name="adj" fmla="val 5882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3941064"/>
            <a:ext cx="54864" cy="932688"/>
          </a:xfrm>
          <a:prstGeom prst="rect">
            <a:avLst/>
          </a:prstGeom>
          <a:solidFill>
            <a:srgbClr val="3DD4C8"/>
          </a:solidFill>
          <a:ln/>
        </p:spPr>
      </p:sp>
      <p:sp>
        <p:nvSpPr>
          <p:cNvPr id="22" name="Text 20"/>
          <p:cNvSpPr/>
          <p:nvPr/>
        </p:nvSpPr>
        <p:spPr>
          <a:xfrm>
            <a:off x="7699248" y="40873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feature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99248" y="43982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[TBD]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5020056"/>
            <a:ext cx="4114800" cy="932688"/>
          </a:xfrm>
          <a:prstGeom prst="roundRect">
            <a:avLst>
              <a:gd name="adj" fmla="val 5882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5020056"/>
            <a:ext cx="54864" cy="932688"/>
          </a:xfrm>
          <a:prstGeom prst="rect">
            <a:avLst/>
          </a:prstGeom>
          <a:solidFill>
            <a:srgbClr val="3DD4C8"/>
          </a:solidFill>
          <a:ln/>
        </p:spPr>
      </p:sp>
      <p:sp>
        <p:nvSpPr>
          <p:cNvPr id="26" name="Text 24"/>
          <p:cNvSpPr/>
          <p:nvPr/>
        </p:nvSpPr>
        <p:spPr>
          <a:xfrm>
            <a:off x="7699248" y="5166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feature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99248" y="54772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[TBD]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·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 size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4572000" cy="4572000"/>
          </a:xfrm>
          <a:prstGeom prst="ellipse">
            <a:avLst/>
          </a:prstGeom>
          <a:solidFill>
            <a:srgbClr val="111B2E"/>
          </a:solidFill>
          <a:ln w="25400">
            <a:solidFill>
              <a:srgbClr val="2430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560320"/>
            <a:ext cx="3108960" cy="3108960"/>
          </a:xfrm>
          <a:prstGeom prst="ellipse">
            <a:avLst/>
          </a:prstGeom>
          <a:solidFill>
            <a:srgbClr val="111B2E"/>
          </a:solidFill>
          <a:ln w="25400">
            <a:solidFill>
              <a:srgbClr val="5B8D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3246120"/>
            <a:ext cx="1737360" cy="1737360"/>
          </a:xfrm>
          <a:prstGeom prst="ellipse">
            <a:avLst/>
          </a:prstGeom>
          <a:solidFill>
            <a:srgbClr val="111B2E"/>
          </a:solidFill>
          <a:ln w="25400">
            <a:solidFill>
              <a:srgbClr val="3DD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TAM  </a:t>
            </a:r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  </a:t>
            </a:r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  </a:t>
            </a:r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1783080"/>
            <a:ext cx="576072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16752" y="1892808"/>
            <a:ext cx="54315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TARGET SEGMENT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16752" y="2167128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52160" y="2834640"/>
            <a:ext cx="576072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2944368"/>
            <a:ext cx="54315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BOTTOMS-UP SIZING LOGIC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16752" y="3218688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852160" y="3886200"/>
            <a:ext cx="576072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16752" y="3995928"/>
            <a:ext cx="54315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GROWTH DRIVERS (CAGR)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16752" y="4270248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52160" y="50292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figures pending — provide TAM/SAM/SOM to populate chart.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· 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we make money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92808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PRICING MODEL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216712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37560" y="17830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892808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ACV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02152" y="216712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1892808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91072" y="216712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15400" y="17830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79992" y="1892808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BILLING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79992" y="216712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3063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Unit economics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38728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" y="381304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337560" y="342900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2152" y="3538728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LTV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02152" y="381304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26480" y="342900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3538728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LTV : CAC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91072" y="381304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915400" y="342900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9992" y="3538728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PAYBACK (MO)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079992" y="381304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470916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4818888"/>
            <a:ext cx="10735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REVENUE STREAMS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3232" y="5093208"/>
            <a:ext cx="10735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· 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Momentum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47088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ARR / MRR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212140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847088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ACTIVE USERS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02152" y="212140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1847088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MOM GROWTH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91072" y="212140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15400" y="173736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79992" y="1847088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NET RETENTION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79992" y="212140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7040880" cy="3108960"/>
          </a:xfrm>
          <a:prstGeom prst="roundRect">
            <a:avLst>
              <a:gd name="adj" fmla="val 1765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Revenue growth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5669280"/>
            <a:ext cx="6492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520440"/>
            <a:ext cx="0" cy="214884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389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Chart pending data — [TBD]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0" y="2926080"/>
            <a:ext cx="3840480" cy="3108960"/>
          </a:xfrm>
          <a:prstGeom prst="roundRect">
            <a:avLst>
              <a:gd name="adj" fmla="val 1765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2926080"/>
            <a:ext cx="54864" cy="3108960"/>
          </a:xfrm>
          <a:prstGeom prst="rect">
            <a:avLst/>
          </a:prstGeom>
          <a:solidFill>
            <a:srgbClr val="3DD4C8"/>
          </a:solidFill>
          <a:ln/>
        </p:spPr>
      </p:sp>
      <p:sp>
        <p:nvSpPr>
          <p:cNvPr id="25" name="Text 23"/>
          <p:cNvSpPr/>
          <p:nvPr/>
        </p:nvSpPr>
        <p:spPr>
          <a:xfrm>
            <a:off x="7973568" y="30723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logos / customers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73568" y="338328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[TBD]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· 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Landscape &amp; edge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14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2194560"/>
                <a:gridCol w="2194560"/>
                <a:gridCol w="21945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Differentiator A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Differentiator B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Differentiator C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Overall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D4C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Us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[TBD]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[TBD]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[TBD]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[TBD]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Rival 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Rival 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C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Rival 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2–3 rivals + your differentiator to fill cells.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· 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 &amp; moat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949440" cy="713232"/>
          </a:xfrm>
          <a:prstGeom prst="roundRect">
            <a:avLst>
              <a:gd name="adj" fmla="val 641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Clients / SDKs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182880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2496312"/>
            <a:ext cx="0" cy="128016"/>
          </a:xfrm>
          <a:prstGeom prst="line">
            <a:avLst/>
          </a:prstGeom>
          <a:noFill/>
          <a:ln w="19050">
            <a:solidFill>
              <a:srgbClr val="3DD4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24328"/>
            <a:ext cx="6949440" cy="713232"/>
          </a:xfrm>
          <a:prstGeom prst="roundRect">
            <a:avLst>
              <a:gd name="adj" fmla="val 641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70048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&amp; Edge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67004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3337560"/>
            <a:ext cx="0" cy="128016"/>
          </a:xfrm>
          <a:prstGeom prst="line">
            <a:avLst/>
          </a:prstGeom>
          <a:noFill/>
          <a:ln w="19050">
            <a:solidFill>
              <a:srgbClr val="3DD4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65576"/>
            <a:ext cx="6949440" cy="713232"/>
          </a:xfrm>
          <a:prstGeom prst="roundRect">
            <a:avLst>
              <a:gd name="adj" fmla="val 641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11296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Core services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351129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23360" y="4178808"/>
            <a:ext cx="0" cy="128016"/>
          </a:xfrm>
          <a:prstGeom prst="line">
            <a:avLst/>
          </a:prstGeom>
          <a:noFill/>
          <a:ln w="19050">
            <a:solidFill>
              <a:srgbClr val="3DD4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306824"/>
            <a:ext cx="6949440" cy="713232"/>
          </a:xfrm>
          <a:prstGeom prst="roundRect">
            <a:avLst>
              <a:gd name="adj" fmla="val 641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352544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&amp; ML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4352544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23360" y="5020056"/>
            <a:ext cx="0" cy="128016"/>
          </a:xfrm>
          <a:prstGeom prst="line">
            <a:avLst/>
          </a:prstGeom>
          <a:noFill/>
          <a:ln w="19050">
            <a:solidFill>
              <a:srgbClr val="3DD4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148072"/>
            <a:ext cx="6949440" cy="713232"/>
          </a:xfrm>
          <a:prstGeom prst="roundRect">
            <a:avLst>
              <a:gd name="adj" fmla="val 641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19379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Infra / Cloud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519379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80960" y="1783080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1783080"/>
            <a:ext cx="54864" cy="1920240"/>
          </a:xfrm>
          <a:prstGeom prst="rect">
            <a:avLst/>
          </a:prstGeom>
          <a:solidFill>
            <a:srgbClr val="3DD4C8"/>
          </a:solidFill>
          <a:ln/>
        </p:spPr>
      </p:sp>
      <p:sp>
        <p:nvSpPr>
          <p:cNvPr id="27" name="Text 25"/>
          <p:cNvSpPr/>
          <p:nvPr/>
        </p:nvSpPr>
        <p:spPr>
          <a:xfrm>
            <a:off x="7882128" y="19293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Defensible moat / IP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82128" y="22402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[TBD]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80960" y="3840480"/>
            <a:ext cx="3931920" cy="2194560"/>
          </a:xfrm>
          <a:prstGeom prst="roundRect">
            <a:avLst>
              <a:gd name="adj" fmla="val 25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0" y="3840480"/>
            <a:ext cx="54864" cy="2194560"/>
          </a:xfrm>
          <a:prstGeom prst="rect">
            <a:avLst/>
          </a:prstGeom>
          <a:solidFill>
            <a:srgbClr val="3DD4C8"/>
          </a:solidFill>
          <a:ln/>
        </p:spPr>
      </p:sp>
      <p:sp>
        <p:nvSpPr>
          <p:cNvPr id="31" name="Text 29"/>
          <p:cNvSpPr/>
          <p:nvPr/>
        </p:nvSpPr>
        <p:spPr>
          <a:xfrm>
            <a:off x="7882128" y="39867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Integrations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882128" y="429768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[TBD]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 · 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we grow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474720" cy="2011680"/>
          </a:xfrm>
          <a:prstGeom prst="roundRect">
            <a:avLst>
              <a:gd name="adj" fmla="val 2727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Acquire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[TBD]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61104" y="1783080"/>
            <a:ext cx="3474720" cy="2011680"/>
          </a:xfrm>
          <a:prstGeom prst="roundRect">
            <a:avLst>
              <a:gd name="adj" fmla="val 2727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3984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84064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Activate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43984" y="26060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[TBD]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73568" y="1783080"/>
            <a:ext cx="3474720" cy="2011680"/>
          </a:xfrm>
          <a:prstGeom prst="roundRect">
            <a:avLst>
              <a:gd name="adj" fmla="val 2727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56448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796528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Expand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56448" y="26060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[TBD]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224528"/>
            <a:ext cx="5157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PRIMARY CHANNELS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" y="449884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26480" y="41148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4224528"/>
            <a:ext cx="5157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SALES MOTION (PLG / SLG)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91072" y="449884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5276088"/>
            <a:ext cx="5157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CAC BY CHANNEL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" y="555040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26480" y="516636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5276088"/>
            <a:ext cx="5157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12-MO PIPELINE TARGET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91072" y="555040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·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we 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2011680"/>
            <a:ext cx="914400" cy="914400"/>
          </a:xfrm>
          <a:prstGeom prst="ellipse">
            <a:avLst/>
          </a:prstGeom>
          <a:solidFill>
            <a:srgbClr val="0B1220"/>
          </a:solidFill>
          <a:ln w="25400">
            <a:solidFill>
              <a:srgbClr val="3DD4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/ title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[TBD]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61104" y="178308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41264" y="2011680"/>
            <a:ext cx="914400" cy="914400"/>
          </a:xfrm>
          <a:prstGeom prst="ellipse">
            <a:avLst/>
          </a:prstGeom>
          <a:solidFill>
            <a:srgbClr val="0B1220"/>
          </a:solidFill>
          <a:ln w="25400">
            <a:solidFill>
              <a:srgbClr val="3DD4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43984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/ title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43984" y="37033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[TBD]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73568" y="178308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53728" y="2011680"/>
            <a:ext cx="914400" cy="914400"/>
          </a:xfrm>
          <a:prstGeom prst="ellipse">
            <a:avLst/>
          </a:prstGeom>
          <a:solidFill>
            <a:srgbClr val="0B1220"/>
          </a:solidFill>
          <a:ln w="25400">
            <a:solidFill>
              <a:srgbClr val="3DD4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6448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56448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/ title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56448" y="37033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[TBD]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910328"/>
            <a:ext cx="10735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ADVISORS &amp; KEY HIRES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" y="5184648"/>
            <a:ext cx="10735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 · FINANCIALS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14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097280"/>
                <a:gridCol w="1097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Y1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Y2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Y3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Revenue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Gross margin %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Customers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Burn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C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EoP cash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[TBD]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0" y="1783080"/>
            <a:ext cx="5212080" cy="3383280"/>
          </a:xfrm>
          <a:prstGeom prst="roundRect">
            <a:avLst>
              <a:gd name="adj" fmla="val 1622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940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Revenue vs. burn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3200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Chart pending data — [TBD]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54864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5596128"/>
            <a:ext cx="5157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ASSUMPTIONS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3232" y="587044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0" y="5486400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65392" y="5596128"/>
            <a:ext cx="4882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PATH TO PROFITABILITY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565392" y="5870448"/>
            <a:ext cx="4882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 · 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we're raising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 w="25400">
            <a:solidFill>
              <a:srgbClr val="3DD4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RAISE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943600" y="1828800"/>
            <a:ext cx="5669280" cy="1828800"/>
          </a:xfrm>
          <a:prstGeom prst="roundRect">
            <a:avLst>
              <a:gd name="adj" fmla="val 3000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08192" y="1938528"/>
            <a:ext cx="5340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INSTRUMENT / ROUND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08192" y="2212848"/>
            <a:ext cx="534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of funds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3474720" cy="1554480"/>
          </a:xfrm>
          <a:prstGeom prst="roundRect">
            <a:avLst>
              <a:gd name="adj" fmla="val 3529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480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 / R&amp;D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846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" y="5440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allocation 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61104" y="4343400"/>
            <a:ext cx="3474720" cy="1554480"/>
          </a:xfrm>
          <a:prstGeom prst="roundRect">
            <a:avLst>
              <a:gd name="adj" fmla="val 3529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43984" y="4480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43984" y="4846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443984" y="5440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allocation 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73568" y="4343400"/>
            <a:ext cx="3474720" cy="1554480"/>
          </a:xfrm>
          <a:prstGeom prst="roundRect">
            <a:avLst>
              <a:gd name="adj" fmla="val 3529"/>
            </a:avLst>
          </a:prstGeom>
          <a:solidFill>
            <a:srgbClr val="111B2E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6448" y="4480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56448" y="4846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156448" y="5440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allocation %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DD4C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DD4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LET'S TALK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2651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/ founder name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EMAIL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8096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A97A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WEBSITE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8096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[TBD]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2026-06-02T11:18:04Z</dcterms:created>
  <dcterms:modified xsi:type="dcterms:W3CDTF">2026-06-02T11:18:04Z</dcterms:modified>
</cp:coreProperties>
</file>